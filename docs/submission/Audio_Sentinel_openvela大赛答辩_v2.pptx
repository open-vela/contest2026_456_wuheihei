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依据：README.md，docs/阶段1_v10冻结清单.md，docs/阶段2_复现实验与指标.md，docs/OpenVela端功能边界.md。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问题场景为家庭安全、看护和隐私敏感环境。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设计目标来自当前仓库 README 与 v10 冻结清单。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三端边界：Python 训练与评测；Linux 主机 C 模拟器；真实 OpenVela 开发板。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模型与特征：model/README.md，training/，app/audiodetect/model_weights*.h。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部署依据：app/audiodetect/，board/，scripts/apply_board_overlay.sh。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五折指标：results/python_cv/metrics_extended.json 与 docs/阶段2_复现实验与指标.md。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噪声条件指标：results/python_cv/metrics_extended.json。强噪声下必须同时披露宏召回与各事件类召回率。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模型存储为参数及归一化常量的估算，不是整机镜像体积或峰值内存。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OpenVela 已实现与未实现功能依据：docs/OpenVela端功能边界.md。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所有结论均按当前可核验证据表述，不把离线指标表述为真板准确率。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团队：呜嘿嘿。成员：李炳霖、吴安琪。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619125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76000">
                <a:srgbClr val="FFFFFF">
                  <a:alpha val="94902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533400"/>
            <a:ext cx="3714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OPENVELA · EDGE AI</a:t>
            </a:r>
            <a:endParaRPr sz="1050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09600" y="1381125"/>
            <a:ext cx="619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243"/>
          </a:bodyPr>
          <a:lstStyle/>
          <a:p>
            <a:pPr algn="l">
              <a:lnSpc>
                <a:spcPct val="94000"/>
              </a:lnSpc>
              <a:buNone/>
              <a:defRPr sz="39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Audio Sentinel</a:t>
            </a:r>
            <a:endParaRPr sz="39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94000"/>
              </a:lnSpc>
              <a:buNone/>
              <a:defRPr sz="39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基于 OpenVela 的离线音频事件检测系统</a:t>
            </a:r>
            <a:endParaRPr sz="39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28650" y="308610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本地完成采集、识别与可视化告警</a:t>
            </a:r>
            <a:endParaRPr sz="172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Straight Connector 5"/>
          <p:cNvSpPr>
            <a:spLocks noGrp="1"/>
          </p:cNvSpPr>
          <p:nvPr/>
        </p:nvSpPr>
        <p:spPr>
          <a:xfrm>
            <a:off x="628650" y="3810000"/>
            <a:ext cx="876300" cy="0"/>
          </a:xfrm>
          <a:prstGeom prst="line">
            <a:avLst/>
          </a:prstGeom>
          <a:noFill/>
          <a:ln w="57150">
            <a:solidFill>
              <a:srgbClr val="00A6A6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28650" y="409575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rPr>
              <a:t>五类事件  ·  92维特征  ·  TinyMLP 92→64→5  ·  INT8权重存储</a:t>
            </a:r>
            <a:endParaRPr sz="1350" b="1">
              <a:solidFill>
                <a:srgbClr val="172B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28650" y="59245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66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队伍：呜嘿嘿　成员：李炳霖、吴安琪</a:t>
            </a:r>
            <a:endParaRPr sz="1200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 16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01 · 问题与场景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隐私敏感场景需要设备本地持续检测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5" name="Picture 22"/>
          <p:cNvPicPr>
            <a:picLocks noChangeAspect="1"/>
          </p:cNvPicPr>
          <p:nvPr/>
        </p:nvPicPr>
        <p:blipFill>
          <a:blip r:embed="rId1"/>
          <a:srcRect t="24519" b="24519"/>
          <a:stretch>
            <a:fillRect/>
          </a:stretch>
        </p:blipFill>
        <p:spPr>
          <a:xfrm>
            <a:off x="533400" y="1390650"/>
            <a:ext cx="11125200" cy="3190875"/>
          </a:xfrm>
          <a:prstGeom prst="roundRect">
            <a:avLst>
              <a:gd name="adj" fmla="val 5373"/>
            </a:avLst>
          </a:prstGeom>
        </p:spPr>
      </p:pic>
      <p:sp>
        <p:nvSpPr>
          <p:cNvPr id="8" name="Straight Connector 7"/>
          <p:cNvSpPr>
            <a:spLocks noGrp="1"/>
          </p:cNvSpPr>
          <p:nvPr/>
        </p:nvSpPr>
        <p:spPr>
          <a:xfrm>
            <a:off x="533400" y="4876800"/>
            <a:ext cx="419100" cy="0"/>
          </a:xfrm>
          <a:prstGeom prst="line">
            <a:avLst/>
          </a:prstGeom>
          <a:noFill/>
          <a:ln w="47625">
            <a:solidFill>
              <a:srgbClr val="1677FF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533400" y="50673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断网可用</a:t>
            </a:r>
            <a:endParaRPr sz="16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541020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家庭网络中断时仍需发现异常声音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4267200" y="4876800"/>
            <a:ext cx="419100" cy="0"/>
          </a:xfrm>
          <a:prstGeom prst="line">
            <a:avLst/>
          </a:prstGeom>
          <a:noFill/>
          <a:ln w="47625">
            <a:solidFill>
              <a:srgbClr val="00A6A6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267200" y="50673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隐私边界</a:t>
            </a:r>
            <a:endParaRPr sz="16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267200" y="541020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默认不上传原始音频，只在本地推理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8001000" y="4876800"/>
            <a:ext cx="419100" cy="0"/>
          </a:xfrm>
          <a:prstGeom prst="line">
            <a:avLst/>
          </a:prstGeom>
          <a:noFill/>
          <a:ln w="47625">
            <a:solidFill>
              <a:srgbClr val="F56C6C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8001000" y="50673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及时响应</a:t>
            </a:r>
            <a:endParaRPr sz="16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001000" y="541020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采集后直接分类并在本地界面呈现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 26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02 · 设计目标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资源约束下的离线检测与真板交互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38112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项目根据真实数据、端侧资源和板级能力选择系统路径。</a:t>
            </a:r>
            <a:endParaRPr sz="16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33400" y="2238375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677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677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1677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533400" y="2781300"/>
            <a:ext cx="21907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30480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离线运行</a:t>
            </a:r>
            <a:endParaRPr sz="18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33400" y="3562350"/>
            <a:ext cx="223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默认不依赖云端</a:t>
            </a:r>
            <a:endParaRPr sz="12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314700" y="2238375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3314700" y="2781300"/>
            <a:ext cx="21907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314700" y="30480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轻量部署</a:t>
            </a:r>
            <a:endParaRPr sz="18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314700" y="3562350"/>
            <a:ext cx="223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6,277参数，INT8权重</a:t>
            </a:r>
            <a:endParaRPr sz="12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096000" y="2238375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5A62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5A623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5A62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6096000" y="2781300"/>
            <a:ext cx="21907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096000" y="30480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可复现</a:t>
            </a:r>
            <a:endParaRPr sz="18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096000" y="3562350"/>
            <a:ext cx="223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ESC-50官方五折</a:t>
            </a:r>
            <a:endParaRPr sz="12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877300" y="2238375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56C6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8877300" y="2781300"/>
            <a:ext cx="21907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877300" y="30480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板端可用</a:t>
            </a:r>
            <a:endParaRPr sz="18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8877300" y="3562350"/>
            <a:ext cx="223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麦克风、LCD、触摸与LVGL</a:t>
            </a:r>
            <a:endParaRPr sz="12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533400" y="4667250"/>
            <a:ext cx="11125200" cy="1257300"/>
          </a:xfrm>
          <a:prstGeom prst="roundRect">
            <a:avLst>
              <a:gd name="adj" fmla="val 15152"/>
            </a:avLst>
          </a:prstGeom>
          <a:solidFill>
            <a:srgbClr val="F4F8FB"/>
          </a:solidFill>
          <a:ln w="0">
            <a:noFill/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800100" y="49053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核心目标</a:t>
            </a:r>
            <a:endParaRPr sz="1200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00100" y="5267325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同一份特征布局和模型权重贯通 Python、主机 C 与 OpenVela 真板源码</a:t>
            </a:r>
            <a:endParaRPr sz="202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" name="Rectangle 46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03 · 系统架构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三个运行端共用一条模型链路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ight Arrow 6"/>
          <p:cNvSpPr>
            <a:spLocks noGrp="1"/>
          </p:cNvSpPr>
          <p:nvPr/>
        </p:nvSpPr>
        <p:spPr>
          <a:xfrm>
            <a:off x="2151380" y="2134870"/>
            <a:ext cx="514350" cy="3238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8" name="Right Arrow 7"/>
          <p:cNvSpPr>
            <a:spLocks noGrp="1"/>
          </p:cNvSpPr>
          <p:nvPr/>
        </p:nvSpPr>
        <p:spPr>
          <a:xfrm>
            <a:off x="4342130" y="2134870"/>
            <a:ext cx="514350" cy="3238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9" name="Right Arrow 8"/>
          <p:cNvSpPr>
            <a:spLocks noGrp="1"/>
          </p:cNvSpPr>
          <p:nvPr/>
        </p:nvSpPr>
        <p:spPr>
          <a:xfrm>
            <a:off x="6532880" y="2134870"/>
            <a:ext cx="514350" cy="3238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10" name="Right Arrow 9"/>
          <p:cNvSpPr>
            <a:spLocks noGrp="1"/>
          </p:cNvSpPr>
          <p:nvPr/>
        </p:nvSpPr>
        <p:spPr>
          <a:xfrm>
            <a:off x="8896350" y="1656080"/>
            <a:ext cx="514350" cy="323850"/>
          </a:xfrm>
          <a:prstGeom prst="rightArrow">
            <a:avLst/>
          </a:prstGeom>
          <a:solidFill>
            <a:srgbClr val="E8F7F0"/>
          </a:solidFill>
          <a:ln w="0">
            <a:noFill/>
            <a:prstDash val="solid"/>
          </a:ln>
        </p:spPr>
      </p:sp>
      <p:sp>
        <p:nvSpPr>
          <p:cNvPr id="11" name="Right Arrow 10"/>
          <p:cNvSpPr>
            <a:spLocks noGrp="1"/>
          </p:cNvSpPr>
          <p:nvPr/>
        </p:nvSpPr>
        <p:spPr>
          <a:xfrm>
            <a:off x="8896350" y="2541905"/>
            <a:ext cx="514350" cy="323850"/>
          </a:xfrm>
          <a:prstGeom prst="rightArrow">
            <a:avLst/>
          </a:prstGeom>
          <a:solidFill>
            <a:srgbClr val="FFF0F0"/>
          </a:solidFill>
          <a:ln w="0">
            <a:noFill/>
            <a:prstDash val="solid"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60680" y="1772920"/>
            <a:ext cx="179070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Straight Connector 12"/>
          <p:cNvSpPr>
            <a:spLocks noGrp="1"/>
          </p:cNvSpPr>
          <p:nvPr/>
        </p:nvSpPr>
        <p:spPr>
          <a:xfrm>
            <a:off x="532130" y="1963420"/>
            <a:ext cx="323850" cy="0"/>
          </a:xfrm>
          <a:prstGeom prst="line">
            <a:avLst/>
          </a:prstGeom>
          <a:noFill/>
          <a:ln w="47625">
            <a:solidFill>
              <a:srgbClr val="1677FF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532130" y="209677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音频输入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532130" y="243014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16 kHz · mono · 1 s窗口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2551430" y="1772920"/>
            <a:ext cx="179070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2722880" y="1963420"/>
            <a:ext cx="323850" cy="0"/>
          </a:xfrm>
          <a:prstGeom prst="line">
            <a:avLst/>
          </a:prstGeom>
          <a:noFill/>
          <a:ln w="47625">
            <a:solidFill>
              <a:srgbClr val="00A6A6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2722880" y="209677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特征提取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2722880" y="243014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时域 + MFCC + Delta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4742180" y="1772920"/>
            <a:ext cx="179070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Straight Connector 20"/>
          <p:cNvSpPr>
            <a:spLocks noGrp="1"/>
          </p:cNvSpPr>
          <p:nvPr/>
        </p:nvSpPr>
        <p:spPr>
          <a:xfrm>
            <a:off x="4913630" y="1963420"/>
            <a:ext cx="323850" cy="0"/>
          </a:xfrm>
          <a:prstGeom prst="line">
            <a:avLst/>
          </a:prstGeom>
          <a:noFill/>
          <a:ln w="47625">
            <a:solidFill>
              <a:srgbClr val="1677FF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4913630" y="209677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Tiny MLP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4913630" y="243014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92 → 64 → 5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6932930" y="1772920"/>
            <a:ext cx="179070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Straight Connector 24"/>
          <p:cNvSpPr>
            <a:spLocks noGrp="1"/>
          </p:cNvSpPr>
          <p:nvPr/>
        </p:nvSpPr>
        <p:spPr>
          <a:xfrm>
            <a:off x="7104380" y="1963420"/>
            <a:ext cx="323850" cy="0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7104380" y="209677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事件决策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104380" y="2430145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静音门限 + 0.80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9391650" y="1268730"/>
            <a:ext cx="22669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Straight Connector 28"/>
          <p:cNvSpPr>
            <a:spLocks noGrp="1"/>
          </p:cNvSpPr>
          <p:nvPr/>
        </p:nvSpPr>
        <p:spPr>
          <a:xfrm>
            <a:off x="9563100" y="1389380"/>
            <a:ext cx="323850" cy="0"/>
          </a:xfrm>
          <a:prstGeom prst="line">
            <a:avLst/>
          </a:prstGeom>
          <a:noFill/>
          <a:ln w="47625">
            <a:solidFill>
              <a:srgbClr val="1A9C68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9563100" y="152273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LVGL 本地界面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9563100" y="1856105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状态、类别、置信度、计数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9410700" y="2493010"/>
            <a:ext cx="226695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3" name="Straight Connector 32"/>
          <p:cNvSpPr>
            <a:spLocks noGrp="1"/>
          </p:cNvSpPr>
          <p:nvPr/>
        </p:nvSpPr>
        <p:spPr>
          <a:xfrm>
            <a:off x="9563100" y="2608580"/>
            <a:ext cx="323850" cy="0"/>
          </a:xfrm>
          <a:prstGeom prst="line">
            <a:avLst/>
          </a:prstGeom>
          <a:noFill/>
          <a:ln w="47625">
            <a:solidFill>
              <a:srgbClr val="F56C6C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9563100" y="274193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可选 CLI 路径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9563100" y="3248025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关键词与 HTTP/MQTT 代码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Straight Connector 35"/>
          <p:cNvSpPr>
            <a:spLocks noGrp="1"/>
          </p:cNvSpPr>
          <p:nvPr/>
        </p:nvSpPr>
        <p:spPr>
          <a:xfrm>
            <a:off x="533400" y="37909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533400" y="40386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运行端边界</a:t>
            </a:r>
            <a:endParaRPr sz="1200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1714500" y="4000500"/>
            <a:ext cx="962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rPr>
              <a:t>准确率来自离线五折；主机 C 用于检查部署路径；真板用于麦克风、显示、触摸和启动集成。</a:t>
            </a:r>
            <a:endParaRPr sz="1500" b="1">
              <a:solidFill>
                <a:srgbClr val="172B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533400" y="4876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Python</a:t>
            </a:r>
            <a:endParaRPr sz="11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533400" y="518160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训练、五折与量化对比</a:t>
            </a:r>
            <a:endParaRPr sz="12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Rectangle 40"/>
          <p:cNvSpPr>
            <a:spLocks noGrp="1"/>
          </p:cNvSpPr>
          <p:nvPr/>
        </p:nvSpPr>
        <p:spPr>
          <a:xfrm>
            <a:off x="3371850" y="4876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C主机</a:t>
            </a:r>
            <a:endParaRPr sz="11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3371850" y="518160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当前源码与门限行为</a:t>
            </a:r>
            <a:endParaRPr sz="12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6496050" y="4876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OpenVela</a:t>
            </a:r>
            <a:endParaRPr sz="11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6496050" y="518160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R528S3板级集成</a:t>
            </a:r>
            <a:endParaRPr sz="12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Rectangle 44"/>
          <p:cNvSpPr>
            <a:spLocks noGrp="1"/>
          </p:cNvSpPr>
          <p:nvPr/>
        </p:nvSpPr>
        <p:spPr>
          <a:xfrm>
            <a:off x="9391650" y="4876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指标</a:t>
            </a:r>
            <a:endParaRPr sz="11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Rectangle 45"/>
          <p:cNvSpPr>
            <a:spLocks noGrp="1"/>
          </p:cNvSpPr>
          <p:nvPr/>
        </p:nvSpPr>
        <p:spPr>
          <a:xfrm>
            <a:off x="9391650" y="518160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离线评测口径</a:t>
            </a:r>
            <a:endParaRPr sz="12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Rectangle 41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04 · 识别方法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92维特征与 6,277 参数 TinyMLP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381125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Python 与 C 使用相同的特征顺序、标准化常量和模型权重。</a:t>
            </a:r>
            <a:endParaRPr sz="15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ight Arrow 7"/>
          <p:cNvSpPr>
            <a:spLocks noGrp="1"/>
          </p:cNvSpPr>
          <p:nvPr/>
        </p:nvSpPr>
        <p:spPr>
          <a:xfrm>
            <a:off x="2857500" y="2581275"/>
            <a:ext cx="457200" cy="26670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9" name="Down Arrow 8"/>
          <p:cNvSpPr>
            <a:spLocks noGrp="1"/>
          </p:cNvSpPr>
          <p:nvPr/>
        </p:nvSpPr>
        <p:spPr>
          <a:xfrm>
            <a:off x="1733550" y="3352800"/>
            <a:ext cx="266700" cy="400050"/>
          </a:xfrm>
          <a:prstGeom prst="down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10" name="Right Arrow 9"/>
          <p:cNvSpPr>
            <a:spLocks noGrp="1"/>
          </p:cNvSpPr>
          <p:nvPr/>
        </p:nvSpPr>
        <p:spPr>
          <a:xfrm>
            <a:off x="2476500" y="4171950"/>
            <a:ext cx="361950" cy="2476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11" name="Right Arrow 10"/>
          <p:cNvSpPr>
            <a:spLocks noGrp="1"/>
          </p:cNvSpPr>
          <p:nvPr/>
        </p:nvSpPr>
        <p:spPr>
          <a:xfrm>
            <a:off x="4762500" y="4171950"/>
            <a:ext cx="361950" cy="2476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533400" y="2266950"/>
            <a:ext cx="2324100" cy="1066800"/>
          </a:xfrm>
          <a:prstGeom prst="roundRect">
            <a:avLst>
              <a:gd name="adj" fmla="val 16071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723900" y="2457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时域统计</a:t>
            </a:r>
            <a:endParaRPr sz="15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23900" y="28479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4074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40维</a:t>
            </a:r>
            <a:endParaRPr sz="112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能量、过零率、幅值与变化</a:t>
            </a:r>
            <a:endParaRPr sz="112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3314700" y="2266950"/>
            <a:ext cx="3409950" cy="1066800"/>
          </a:xfrm>
          <a:prstGeom prst="roundRect">
            <a:avLst>
              <a:gd name="adj" fmla="val 16071"/>
            </a:avLst>
          </a:prstGeom>
          <a:solidFill>
            <a:srgbClr val="F4F8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505200" y="24574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MFCC</a:t>
            </a:r>
            <a:endParaRPr sz="15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505200" y="2847975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4074"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26维</a:t>
            </a:r>
            <a:endParaRPr sz="112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05000"/>
              </a:lnSpc>
              <a:buNone/>
              <a:def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13维 MFCC 的均值与标准差</a:t>
            </a:r>
            <a:endParaRPr sz="112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33400" y="3790950"/>
            <a:ext cx="1943100" cy="118110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04850" y="39719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MFCC Delta</a:t>
            </a:r>
            <a:endParaRPr sz="1350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04850" y="4324350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525"/>
          </a:bodyPr>
          <a:lstStyle/>
          <a:p>
            <a:pPr algn="l">
              <a:lnSpc>
                <a:spcPct val="118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26维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18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一阶差分的均值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18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与标准差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2838450" y="3790950"/>
            <a:ext cx="1924050" cy="1181100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3009900" y="397192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677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677FF"/>
                </a:solidFill>
                <a:latin typeface="Noto Sans CJK SC"/>
                <a:ea typeface="Noto Sans CJK SC"/>
                <a:cs typeface="Noto Sans CJK SC"/>
              </a:rPr>
              <a:t>输入规格</a:t>
            </a:r>
            <a:endParaRPr sz="1350" b="1">
              <a:solidFill>
                <a:srgbClr val="1677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3009900" y="4324350"/>
            <a:ext cx="161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16 kHz · int16</a:t>
            </a:r>
            <a:endParaRPr sz="9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18000"/>
              </a:lnSpc>
              <a:buNone/>
              <a:defRPr sz="9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帧长 25 ms</a:t>
            </a:r>
            <a:endParaRPr sz="9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18000"/>
              </a:lnSpc>
              <a:buNone/>
              <a:defRPr sz="9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帧移 10 ms</a:t>
            </a:r>
            <a:endParaRPr sz="9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5124450" y="3790950"/>
            <a:ext cx="1600200" cy="1181100"/>
          </a:xfrm>
          <a:prstGeom prst="roundRect">
            <a:avLst>
              <a:gd name="adj" fmla="val 14516"/>
            </a:avLst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5295900" y="40005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40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特征</a:t>
            </a:r>
            <a:endParaRPr sz="2400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295900" y="45339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92维</a:t>
            </a:r>
            <a:endParaRPr sz="1200" b="1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7334250" y="1952625"/>
            <a:ext cx="4324350" cy="2667000"/>
          </a:xfrm>
          <a:prstGeom prst="roundRect">
            <a:avLst>
              <a:gd name="adj" fmla="val 8571"/>
            </a:avLst>
          </a:prstGeom>
          <a:solidFill>
            <a:srgbClr val="F4F8FB"/>
          </a:solidFill>
          <a:ln w="0">
            <a:noFill/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7620000" y="21812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TinyMLP</a:t>
            </a:r>
            <a:endParaRPr sz="1350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Right Arrow 28"/>
          <p:cNvSpPr>
            <a:spLocks noGrp="1"/>
          </p:cNvSpPr>
          <p:nvPr/>
        </p:nvSpPr>
        <p:spPr>
          <a:xfrm>
            <a:off x="8572500" y="3133725"/>
            <a:ext cx="400050" cy="26670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30" name="Right Arrow 29"/>
          <p:cNvSpPr>
            <a:spLocks noGrp="1"/>
          </p:cNvSpPr>
          <p:nvPr/>
        </p:nvSpPr>
        <p:spPr>
          <a:xfrm>
            <a:off x="9925050" y="3133725"/>
            <a:ext cx="400050" cy="26670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31" name="Oval 30"/>
          <p:cNvSpPr>
            <a:spLocks noGrp="1"/>
          </p:cNvSpPr>
          <p:nvPr/>
        </p:nvSpPr>
        <p:spPr>
          <a:xfrm>
            <a:off x="7658100" y="2762250"/>
            <a:ext cx="857250" cy="8572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7658100" y="2924175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92</a:t>
            </a:r>
            <a:endParaRPr sz="22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7562850" y="37528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z-score</a:t>
            </a:r>
            <a:endParaRPr sz="1125" b="1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Oval 33"/>
          <p:cNvSpPr>
            <a:spLocks noGrp="1"/>
          </p:cNvSpPr>
          <p:nvPr/>
        </p:nvSpPr>
        <p:spPr>
          <a:xfrm>
            <a:off x="9010650" y="2762250"/>
            <a:ext cx="857250" cy="857250"/>
          </a:xfrm>
          <a:prstGeom prst="ellipse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35" name="Rectangle 34"/>
          <p:cNvSpPr>
            <a:spLocks noGrp="1"/>
          </p:cNvSpPr>
          <p:nvPr/>
        </p:nvSpPr>
        <p:spPr>
          <a:xfrm>
            <a:off x="9010650" y="2924175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64</a:t>
            </a:r>
            <a:endParaRPr sz="22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8915400" y="37528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ReLU</a:t>
            </a:r>
            <a:endParaRPr sz="1125" b="1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Oval 36"/>
          <p:cNvSpPr>
            <a:spLocks noGrp="1"/>
          </p:cNvSpPr>
          <p:nvPr/>
        </p:nvSpPr>
        <p:spPr>
          <a:xfrm>
            <a:off x="10363200" y="2762250"/>
            <a:ext cx="857250" cy="857250"/>
          </a:xfrm>
          <a:prstGeom prst="ellipse">
            <a:avLst/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10363200" y="2924175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22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10267950" y="37528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Softmax</a:t>
            </a:r>
            <a:endParaRPr sz="1125" b="1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7334250" y="5048250"/>
            <a:ext cx="432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rPr>
              <a:t>background · cough · glass_break · baby_cry · dog_bark</a:t>
            </a:r>
            <a:endParaRPr sz="1200" b="1">
              <a:solidFill>
                <a:srgbClr val="172B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Rectangle 40"/>
          <p:cNvSpPr>
            <a:spLocks noGrp="1"/>
          </p:cNvSpPr>
          <p:nvPr/>
        </p:nvSpPr>
        <p:spPr>
          <a:xfrm>
            <a:off x="7334250" y="5581650"/>
            <a:ext cx="432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6,277 参数 · Float32 参数及归一化存储 25,844 B</a:t>
            </a:r>
            <a:endParaRPr sz="1200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 30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05 · 工程部署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同一模型贯通训练、主机 C 与 OpenVela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ight Arrow 6"/>
          <p:cNvSpPr>
            <a:spLocks noGrp="1"/>
          </p:cNvSpPr>
          <p:nvPr/>
        </p:nvSpPr>
        <p:spPr>
          <a:xfrm>
            <a:off x="2600325" y="2209800"/>
            <a:ext cx="495300" cy="2857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8" name="Right Arrow 7"/>
          <p:cNvSpPr>
            <a:spLocks noGrp="1"/>
          </p:cNvSpPr>
          <p:nvPr/>
        </p:nvSpPr>
        <p:spPr>
          <a:xfrm>
            <a:off x="4953000" y="2209800"/>
            <a:ext cx="495300" cy="2857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9" name="Right Arrow 8"/>
          <p:cNvSpPr>
            <a:spLocks noGrp="1"/>
          </p:cNvSpPr>
          <p:nvPr/>
        </p:nvSpPr>
        <p:spPr>
          <a:xfrm>
            <a:off x="7305675" y="2209800"/>
            <a:ext cx="495300" cy="2857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533400" y="1809750"/>
            <a:ext cx="2066925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704850" y="2000250"/>
            <a:ext cx="323850" cy="0"/>
          </a:xfrm>
          <a:prstGeom prst="line">
            <a:avLst/>
          </a:prstGeom>
          <a:noFill/>
          <a:ln w="47625">
            <a:solidFill>
              <a:srgbClr val="1677FF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04850" y="2133600"/>
            <a:ext cx="17240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ESC-50 训练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04850" y="2466975"/>
            <a:ext cx="1724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官方五折 · 增强 · 评测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3095625" y="1809750"/>
            <a:ext cx="1857375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3267075" y="2000250"/>
            <a:ext cx="323850" cy="0"/>
          </a:xfrm>
          <a:prstGeom prst="line">
            <a:avLst/>
          </a:prstGeom>
          <a:noFill/>
          <a:ln w="47625">
            <a:solidFill>
              <a:srgbClr val="00A6A6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3267075" y="2133600"/>
            <a:ext cx="1514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模型冻结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267075" y="2466975"/>
            <a:ext cx="1514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NPZ 哈希可确定复现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448300" y="1809750"/>
            <a:ext cx="1857375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5619750" y="2000250"/>
            <a:ext cx="323850" cy="0"/>
          </a:xfrm>
          <a:prstGeom prst="line">
            <a:avLst/>
          </a:prstGeom>
          <a:noFill/>
          <a:ln w="47625">
            <a:solidFill>
              <a:srgbClr val="1677FF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5619750" y="2133600"/>
            <a:ext cx="1514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C 代码导出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5619750" y="2466975"/>
            <a:ext cx="1514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Float / INT8 头文件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7800975" y="1809750"/>
            <a:ext cx="3857625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7972425" y="2000250"/>
            <a:ext cx="323850" cy="0"/>
          </a:xfrm>
          <a:prstGeom prst="line">
            <a:avLst/>
          </a:prstGeom>
          <a:noFill/>
          <a:ln w="47625">
            <a:solidFill>
              <a:srgbClr val="F56C6C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7972425" y="2133600"/>
            <a:ext cx="3514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OpenVela R528S3 真板工程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7972425" y="2466975"/>
            <a:ext cx="35147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Audio · LCD · Touch · LVGL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33400" y="34480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三个运行端保持清晰口径</a:t>
            </a:r>
            <a:endParaRPr sz="18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59" name="Table 56"/>
          <p:cNvGraphicFramePr/>
          <p:nvPr/>
        </p:nvGraphicFramePr>
        <p:xfrm>
          <a:off x="533400" y="3905250"/>
          <a:ext cx="7239000" cy="1809752"/>
        </p:xfrm>
        <a:graphic>
          <a:graphicData uri="http://schemas.openxmlformats.org/drawingml/2006/table">
            <a:tbl>
              <a:tblPr/>
              <a:tblGrid>
                <a:gridCol w="2000250"/>
                <a:gridCol w="2476500"/>
                <a:gridCol w="2762250"/>
              </a:tblGrid>
              <a:tr h="45243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模块</a:t>
                      </a:r>
                      <a:endParaRPr sz="11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主机侧验证</a:t>
                      </a:r>
                      <a:endParaRPr sz="11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OpenVela 端</a:t>
                      </a:r>
                      <a:endParaRPr sz="11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</a:tr>
              <a:tr h="45243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音频输入</a:t>
                      </a:r>
                      <a:endParaRPr sz="112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 kHz WAV / C 模拟器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arecord 3 s / 最多3窗口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特征与推理</a:t>
                      </a:r>
                      <a:endParaRPr sz="112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92维 C 特征 + INT8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同份源码和权重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452438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交互与启动</a:t>
                      </a:r>
                      <a:endParaRPr sz="112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CLI 验证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LVGL / 触摸 / AUTO / rcS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>
            <a:spLocks noGrp="1"/>
          </p:cNvSpPr>
          <p:nvPr/>
        </p:nvSpPr>
        <p:spPr>
          <a:xfrm>
            <a:off x="8191500" y="3714750"/>
            <a:ext cx="3467100" cy="2000250"/>
          </a:xfrm>
          <a:prstGeom prst="roundRect">
            <a:avLst>
              <a:gd name="adj" fmla="val 8571"/>
            </a:avLst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8477250" y="39814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7EE8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7EE8E8"/>
                </a:solidFill>
                <a:latin typeface="Noto Sans CJK SC"/>
                <a:ea typeface="Noto Sans CJK SC"/>
                <a:cs typeface="Noto Sans CJK SC"/>
              </a:rPr>
              <a:t>构建与运行</a:t>
            </a:r>
            <a:endParaRPr sz="1200" b="1">
              <a:solidFill>
                <a:srgbClr val="7EE8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8477250" y="4410075"/>
            <a:ext cx="2724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268"/>
          </a:bodyPr>
          <a:lstStyle/>
          <a:p>
            <a:pPr algn="l">
              <a:lnSpc>
                <a:spcPct val="130000"/>
              </a:lnSpc>
              <a:buNone/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./scripts/apply_board_overlay.sh .</a:t>
            </a:r>
            <a:endParaRPr sz="1275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configure r528s3-gemini-s1 / nsh</a:t>
            </a:r>
            <a:endParaRPr sz="1275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make -C nuttx -j16</a:t>
            </a:r>
            <a:endParaRPr sz="1275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30000"/>
              </a:lnSpc>
              <a:buNone/>
              <a:def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audiodetect ui</a:t>
            </a:r>
            <a:endParaRPr sz="1275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06 · 五折评测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同源录音不跨训练集与测试集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28" name="Table 25"/>
          <p:cNvGraphicFramePr/>
          <p:nvPr/>
        </p:nvGraphicFramePr>
        <p:xfrm>
          <a:off x="533400" y="1495425"/>
          <a:ext cx="11125200" cy="3000378"/>
        </p:xfrm>
        <a:graphic>
          <a:graphicData uri="http://schemas.openxmlformats.org/drawingml/2006/table">
            <a:tbl>
              <a:tblPr/>
              <a:tblGrid>
                <a:gridCol w="1809750"/>
                <a:gridCol w="2286000"/>
                <a:gridCol w="2762250"/>
                <a:gridCol w="4267200"/>
              </a:tblGrid>
              <a:tr h="50006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类别</a:t>
                      </a:r>
                      <a:endParaRPr sz="12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源录音数</a:t>
                      </a:r>
                      <a:endParaRPr sz="12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 Recall</a:t>
                      </a:r>
                      <a:endParaRPr sz="12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 F1</a:t>
                      </a:r>
                      <a:endParaRPr sz="12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</a:tr>
              <a:tr h="50006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background</a:t>
                      </a:r>
                      <a:endParaRPr sz="12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230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85.65%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88.74%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cough</a:t>
                      </a:r>
                      <a:endParaRPr sz="12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65.00%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70.27%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50006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glass_break</a:t>
                      </a:r>
                      <a:endParaRPr sz="12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90.00%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76.60%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baby_cry</a:t>
                      </a:r>
                      <a:endParaRPr sz="12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95.00%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88.37%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50006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dog_bark</a:t>
                      </a:r>
                      <a:endParaRPr sz="12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75.00%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73.17%</a:t>
                      </a:r>
                      <a:endParaRPr sz="12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traight Connector 7"/>
          <p:cNvSpPr>
            <a:spLocks noGrp="1"/>
          </p:cNvSpPr>
          <p:nvPr/>
        </p:nvSpPr>
        <p:spPr>
          <a:xfrm>
            <a:off x="533400" y="4953000"/>
            <a:ext cx="400050" cy="0"/>
          </a:xfrm>
          <a:prstGeom prst="line">
            <a:avLst/>
          </a:prstGeom>
          <a:noFill/>
          <a:ln w="47625">
            <a:solidFill>
              <a:srgbClr val="1677FF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533400" y="51244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83.85%</a:t>
            </a:r>
            <a:endParaRPr sz="25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533400" y="5686425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Float 总体准确率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3524250" y="4953000"/>
            <a:ext cx="400050" cy="0"/>
          </a:xfrm>
          <a:prstGeom prst="line">
            <a:avLst/>
          </a:prstGeom>
          <a:noFill/>
          <a:ln w="47625">
            <a:solidFill>
              <a:srgbClr val="00A6A6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524250" y="51244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82.13%</a:t>
            </a:r>
            <a:endParaRPr sz="25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524250" y="5686425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Float 宏平均召回率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6515100" y="4953000"/>
            <a:ext cx="400050" cy="0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515100" y="51244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84.10%</a:t>
            </a:r>
            <a:endParaRPr sz="25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515100" y="5686425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INT8 总体准确率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9505950" y="4953000"/>
            <a:ext cx="400050" cy="0"/>
          </a:xfrm>
          <a:prstGeom prst="line">
            <a:avLst/>
          </a:prstGeom>
          <a:noFill/>
          <a:ln w="47625">
            <a:solidFill>
              <a:srgbClr val="F56C6C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505950" y="51244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390条源录音</a:t>
            </a:r>
            <a:endParaRPr sz="25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505950" y="56864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1,950个一秒窗口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07 · 鲁棒性验证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强噪声下事件类别容易被判为 background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1381125"/>
            <a:ext cx="1085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评测使用与 Clean 相同的五折测试录音，分别加入 20、10、5 dB 噪声。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28" name="Table 25"/>
          <p:cNvGraphicFramePr/>
          <p:nvPr/>
        </p:nvGraphicFramePr>
        <p:xfrm>
          <a:off x="533400" y="1809750"/>
          <a:ext cx="7715250" cy="4000500"/>
        </p:xfrm>
        <a:graphic>
          <a:graphicData uri="http://schemas.openxmlformats.org/drawingml/2006/table">
            <a:tbl>
              <a:tblPr/>
              <a:tblGrid>
                <a:gridCol w="2190750"/>
                <a:gridCol w="1809750"/>
                <a:gridCol w="1809750"/>
                <a:gridCol w="1905000"/>
              </a:tblGrid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评测项</a:t>
                      </a:r>
                      <a:endParaRPr sz="9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</a:t>
                      </a:r>
                      <a:endParaRPr sz="9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INT8</a:t>
                      </a:r>
                      <a:endParaRPr sz="9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结论</a:t>
                      </a:r>
                      <a:endParaRPr sz="97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Clean 总体准确率</a:t>
                      </a:r>
                      <a:endParaRPr sz="97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83.85%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84.10%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宏召回 82.13% / 82.22%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 dB 总体准确率</a:t>
                      </a:r>
                      <a:endParaRPr sz="97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84.87%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84.36%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宏召回 78.76% / 77.76%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dB 总体准确率</a:t>
                      </a:r>
                      <a:endParaRPr sz="97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71.54%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71.79%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宏召回 52.35% / 52.85%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dB 总体准确率</a:t>
                      </a:r>
                      <a:endParaRPr sz="97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62.82%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63.08%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宏召回 33.70% / 34.20%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dB background 召回</a:t>
                      </a:r>
                      <a:endParaRPr sz="97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93.48%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大类撑高总体准确率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dB cough 召回</a:t>
                      </a:r>
                      <a:endParaRPr sz="97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E8F7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7.50%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E8F7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E8F7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强噪声敏感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E8F7F0"/>
                    </a:solidFill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dB glass_break 召回</a:t>
                      </a:r>
                      <a:endParaRPr sz="97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4D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45.00%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4D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4D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事件类性能下降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4D8"/>
                    </a:solidFill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dB baby_cry 召回</a:t>
                      </a:r>
                      <a:endParaRPr sz="97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E8F7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10.00%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E8F7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E8F7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事件类性能下降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E8F7F0"/>
                    </a:solidFill>
                  </a:tcPr>
                </a:tc>
              </a:tr>
              <a:tr h="4000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dB dog_bark 召回</a:t>
                      </a:r>
                      <a:endParaRPr sz="97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12.50%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7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事件类性能下降</a:t>
                      </a:r>
                      <a:endParaRPr sz="97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traight Connector 8"/>
          <p:cNvSpPr>
            <a:spLocks noGrp="1"/>
          </p:cNvSpPr>
          <p:nvPr/>
        </p:nvSpPr>
        <p:spPr>
          <a:xfrm>
            <a:off x="8763000" y="1714500"/>
            <a:ext cx="400050" cy="0"/>
          </a:xfrm>
          <a:prstGeom prst="line">
            <a:avLst/>
          </a:prstGeom>
          <a:noFill/>
          <a:ln w="47625">
            <a:solidFill>
              <a:srgbClr val="00A6A6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763000" y="1885950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84.10%</a:t>
            </a:r>
            <a:endParaRPr sz="25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763000" y="2447925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Clean INT8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8763000" y="3143250"/>
            <a:ext cx="400050" cy="0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763000" y="3314700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71.79%</a:t>
            </a:r>
            <a:endParaRPr sz="25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763000" y="3876675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10 dB INT8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Straight Connector 14"/>
          <p:cNvSpPr>
            <a:spLocks noGrp="1"/>
          </p:cNvSpPr>
          <p:nvPr/>
        </p:nvSpPr>
        <p:spPr>
          <a:xfrm>
            <a:off x="8763000" y="4572000"/>
            <a:ext cx="400050" cy="0"/>
          </a:xfrm>
          <a:prstGeom prst="line">
            <a:avLst/>
          </a:prstGeom>
          <a:noFill/>
          <a:ln w="47625">
            <a:solidFill>
              <a:srgbClr val="1677FF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8763000" y="4743450"/>
            <a:ext cx="2619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63.08%</a:t>
            </a:r>
            <a:endParaRPr sz="25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763000" y="5305425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5 dB INT8</a:t>
            </a:r>
            <a:endParaRPr sz="120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33400" y="5953125"/>
            <a:ext cx="771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总体准确率受 background 大类影响；噪声下应同时看宏召回和各事件类召回率。</a:t>
            </a:r>
            <a:endParaRPr sz="11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08 · 模型轻量化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INT8 权重存储估算缩减 72.80%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191250" y="16192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权重对称量化，运行时反量化</a:t>
            </a:r>
            <a:endParaRPr sz="18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29" name="Table 20"/>
          <p:cNvGraphicFramePr/>
          <p:nvPr/>
        </p:nvGraphicFramePr>
        <p:xfrm>
          <a:off x="6191250" y="2143125"/>
          <a:ext cx="5467350" cy="1905000"/>
        </p:xfrm>
        <a:graphic>
          <a:graphicData uri="http://schemas.openxmlformats.org/drawingml/2006/table">
            <a:tbl>
              <a:tblPr/>
              <a:tblGrid>
                <a:gridCol w="2095500"/>
                <a:gridCol w="1685925"/>
                <a:gridCol w="1685925"/>
              </a:tblGrid>
              <a:tr h="38100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  <a:endParaRPr sz="11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Float32</a:t>
                      </a:r>
                      <a:endParaRPr sz="11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INT8 权重</a:t>
                      </a:r>
                      <a:endParaRPr sz="1125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</a:tr>
              <a:tr h="38100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参数量</a:t>
                      </a:r>
                      <a:endParaRPr sz="112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6,277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6,277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参数及归一化存储</a:t>
                      </a:r>
                      <a:endParaRPr sz="112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25,844 B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7,029 B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38100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激活与运算</a:t>
                      </a:r>
                      <a:endParaRPr sz="112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float32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float32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五折总体准确率</a:t>
                      </a:r>
                      <a:endParaRPr sz="1125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83.85%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84.10%</a:t>
                      </a:r>
                      <a:endParaRPr sz="1125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>
            <a:spLocks noGrp="1"/>
          </p:cNvSpPr>
          <p:nvPr/>
        </p:nvSpPr>
        <p:spPr>
          <a:xfrm>
            <a:off x="6191250" y="4362450"/>
            <a:ext cx="5467350" cy="1028700"/>
          </a:xfrm>
          <a:prstGeom prst="roundRect">
            <a:avLst>
              <a:gd name="adj" fmla="val 16667"/>
            </a:avLst>
          </a:prstGeom>
          <a:solidFill>
            <a:srgbClr val="E8F7F0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6457950" y="45720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0"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1A9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A9C68"/>
                </a:solidFill>
                <a:latin typeface="Noto Sans CJK SC"/>
                <a:ea typeface="Noto Sans CJK SC"/>
                <a:cs typeface="Noto Sans CJK SC"/>
              </a:rPr>
              <a:t>主要收益：参数及归一化存储估算减少 72.80%</a:t>
            </a:r>
            <a:endParaRPr sz="1875" b="1">
              <a:solidFill>
                <a:srgbClr val="1A9C6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457950" y="500062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当前仍使用 float32 激活和运算，本项目不声明纯整数 MAC 加速。</a:t>
            </a:r>
            <a:endParaRPr sz="112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90550" y="1809750"/>
            <a:ext cx="4524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0F294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350" b="1">
                <a:solidFill>
                  <a:srgbClr val="0F294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参数及归一化常量存储（B）</a:t>
            </a:r>
            <a:endParaRPr sz="1350" b="1">
              <a:solidFill>
                <a:srgbClr val="0F294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90550" y="2400300"/>
            <a:ext cx="838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0F294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200" b="1">
                <a:solidFill>
                  <a:srgbClr val="0F2942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Float32</a:t>
            </a:r>
            <a:endParaRPr sz="1200" b="1">
              <a:solidFill>
                <a:srgbClr val="0F2942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1428750" y="2362200"/>
            <a:ext cx="3429000" cy="361950"/>
          </a:xfrm>
          <a:prstGeom prst="roundRect">
            <a:avLst>
              <a:gd name="adj" fmla="val 21053"/>
            </a:avLst>
          </a:prstGeom>
          <a:solidFill>
            <a:srgbClr val="173B57"/>
          </a:solidFill>
          <a:ln w="0">
            <a:solidFill>
              <a:srgbClr val="173B57"/>
            </a:solidFill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75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25,844 B</a:t>
            </a:r>
            <a:endParaRPr sz="1275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90550" y="3105150"/>
            <a:ext cx="8382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0F294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0F294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INT8</a:t>
            </a:r>
            <a:endParaRPr sz="1200" b="1">
              <a:solidFill>
                <a:srgbClr val="0F294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1428750" y="3067050"/>
            <a:ext cx="933450" cy="361950"/>
          </a:xfrm>
          <a:prstGeom prst="roundRect">
            <a:avLst>
              <a:gd name="adj" fmla="val 21053"/>
            </a:avLst>
          </a:prstGeom>
          <a:solidFill>
            <a:srgbClr val="1FA69A"/>
          </a:solidFill>
          <a:ln w="0">
            <a:solidFill>
              <a:srgbClr val="1FA69A"/>
            </a:solidFill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7,029 B</a:t>
            </a:r>
            <a:endParaRPr sz="1200" b="1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428750" y="3638550"/>
            <a:ext cx="3429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1">
                <a:solidFill>
                  <a:srgbClr val="1FA69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125" b="1">
                <a:solidFill>
                  <a:srgbClr val="1FA69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↓ 72.80%</a:t>
            </a:r>
            <a:endParaRPr sz="1125" b="1">
              <a:solidFill>
                <a:srgbClr val="1FA69A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>
              <a:defRPr sz="1125" b="1">
                <a:solidFill>
                  <a:srgbClr val="1FA69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defRPr>
            </a:pPr>
            <a:r>
              <a:rPr sz="1125" b="1">
                <a:solidFill>
                  <a:srgbClr val="1FA69A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量化权重 + 运行时反量化</a:t>
            </a:r>
            <a:endParaRPr sz="1125" b="1">
              <a:solidFill>
                <a:srgbClr val="1FA69A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Rectangle 38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09 · OpenVela 端实现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三秒分段采集、INT8 推理与 LVGL 本地交互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ight Arrow 6"/>
          <p:cNvSpPr>
            <a:spLocks noGrp="1"/>
          </p:cNvSpPr>
          <p:nvPr/>
        </p:nvSpPr>
        <p:spPr>
          <a:xfrm>
            <a:off x="2400300" y="2076450"/>
            <a:ext cx="342900" cy="2476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8" name="Right Arrow 7"/>
          <p:cNvSpPr>
            <a:spLocks noGrp="1"/>
          </p:cNvSpPr>
          <p:nvPr/>
        </p:nvSpPr>
        <p:spPr>
          <a:xfrm>
            <a:off x="4610100" y="2076450"/>
            <a:ext cx="342900" cy="2476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9" name="Right Arrow 8"/>
          <p:cNvSpPr>
            <a:spLocks noGrp="1"/>
          </p:cNvSpPr>
          <p:nvPr/>
        </p:nvSpPr>
        <p:spPr>
          <a:xfrm>
            <a:off x="6819900" y="2076450"/>
            <a:ext cx="342900" cy="2476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10" name="Right Arrow 9"/>
          <p:cNvSpPr>
            <a:spLocks noGrp="1"/>
          </p:cNvSpPr>
          <p:nvPr/>
        </p:nvSpPr>
        <p:spPr>
          <a:xfrm>
            <a:off x="9029700" y="2076450"/>
            <a:ext cx="342900" cy="247650"/>
          </a:xfrm>
          <a:prstGeom prst="rightArrow">
            <a:avLst/>
          </a:prstGeom>
          <a:solidFill>
            <a:srgbClr val="DDF6F5"/>
          </a:solidFill>
          <a:ln w="0">
            <a:noFill/>
            <a:prstDash val="solid"/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533400" y="1695450"/>
            <a:ext cx="186690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704850" y="1885950"/>
            <a:ext cx="323850" cy="0"/>
          </a:xfrm>
          <a:prstGeom prst="line">
            <a:avLst/>
          </a:prstGeom>
          <a:noFill/>
          <a:ln w="47625">
            <a:solidFill>
              <a:srgbClr val="1677FF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704850" y="20193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麦克风采集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04850" y="23526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arecord · 16 kHz · 3 s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2743200" y="1695450"/>
            <a:ext cx="186690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2914650" y="1885950"/>
            <a:ext cx="323850" cy="0"/>
          </a:xfrm>
          <a:prstGeom prst="line">
            <a:avLst/>
          </a:prstGeom>
          <a:noFill/>
          <a:ln w="47625">
            <a:solidFill>
              <a:srgbClr val="F5A623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2914650" y="20193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三窗推理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2914650" y="23526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3 × 1 s · INT8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953000" y="1695450"/>
            <a:ext cx="186690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Straight Connector 19"/>
          <p:cNvSpPr>
            <a:spLocks noGrp="1"/>
          </p:cNvSpPr>
          <p:nvPr/>
        </p:nvSpPr>
        <p:spPr>
          <a:xfrm>
            <a:off x="5124450" y="1885950"/>
            <a:ext cx="323850" cy="0"/>
          </a:xfrm>
          <a:prstGeom prst="line">
            <a:avLst/>
          </a:prstGeom>
          <a:noFill/>
          <a:ln w="47625">
            <a:solidFill>
              <a:srgbClr val="1A9C68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5124450" y="20193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事件决策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5124450" y="23526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能量门限 + 置信度 0.80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7162800" y="1695450"/>
            <a:ext cx="186690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7334250" y="1885950"/>
            <a:ext cx="323850" cy="0"/>
          </a:xfrm>
          <a:prstGeom prst="line">
            <a:avLst/>
          </a:prstGeom>
          <a:noFill/>
          <a:ln w="47625">
            <a:solidFill>
              <a:srgbClr val="00A6A6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7334250" y="20193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LVGL 界面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7334250" y="235267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START / STOP / AUTO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9372600" y="1695450"/>
            <a:ext cx="2286000" cy="1066800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8" name="Straight Connector 27"/>
          <p:cNvSpPr>
            <a:spLocks noGrp="1"/>
          </p:cNvSpPr>
          <p:nvPr/>
        </p:nvSpPr>
        <p:spPr>
          <a:xfrm>
            <a:off x="9544050" y="1885950"/>
            <a:ext cx="323850" cy="0"/>
          </a:xfrm>
          <a:prstGeom prst="line">
            <a:avLst/>
          </a:prstGeom>
          <a:noFill/>
          <a:ln w="47625">
            <a:solidFill>
              <a:srgbClr val="F56C6C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9544050" y="20193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本地记录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9544050" y="2352675"/>
            <a:ext cx="1943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计数 + 最近3条事件</a:t>
            </a:r>
            <a:endParaRPr sz="1050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71" name="Table 68"/>
          <p:cNvGraphicFramePr/>
          <p:nvPr/>
        </p:nvGraphicFramePr>
        <p:xfrm>
          <a:off x="533400" y="3200400"/>
          <a:ext cx="6934200" cy="2457450"/>
        </p:xfrm>
        <a:graphic>
          <a:graphicData uri="http://schemas.openxmlformats.org/drawingml/2006/table">
            <a:tbl>
              <a:tblPr/>
              <a:tblGrid>
                <a:gridCol w="2143125"/>
                <a:gridCol w="1381125"/>
                <a:gridCol w="1381125"/>
                <a:gridCol w="952500"/>
                <a:gridCol w="1076325"/>
              </a:tblGrid>
              <a:tr h="4095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功能</a:t>
                      </a:r>
                      <a:endParaRPr sz="9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实时 UI</a:t>
                      </a:r>
                      <a:endParaRPr sz="9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CLI</a:t>
                      </a:r>
                      <a:endParaRPr sz="9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当前证据</a:t>
                      </a:r>
                      <a:endParaRPr sz="9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边界</a:t>
                      </a:r>
                      <a:endParaRPr sz="9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</a:tr>
              <a:tr h="4095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3秒音频采集</a:t>
                      </a:r>
                      <a:endParaRPr sz="9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源码+配置+镜像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arecord 分段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五类事件推理</a:t>
                      </a:r>
                      <a:endParaRPr sz="9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源码+C模拟器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准确率来自离线五折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4095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关键词识别</a:t>
                      </a:r>
                      <a:endParaRPr sz="9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否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命令行代码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未接入实时UI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HTTP / MQTT</a:t>
                      </a:r>
                      <a:endParaRPr sz="9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否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可选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命令行代码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无可核验真板闭环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4095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最近事件</a:t>
                      </a:r>
                      <a:endParaRPr sz="90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内存中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UI源码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90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重启后清空</a:t>
                      </a:r>
                      <a:endParaRPr sz="90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>
            <a:spLocks noGrp="1"/>
          </p:cNvSpPr>
          <p:nvPr/>
        </p:nvSpPr>
        <p:spPr>
          <a:xfrm>
            <a:off x="7810500" y="3200400"/>
            <a:ext cx="3848100" cy="1619250"/>
          </a:xfrm>
          <a:prstGeom prst="roundRect">
            <a:avLst>
              <a:gd name="adj" fmla="val 10588"/>
            </a:avLst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8058150" y="33909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7EE8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EE8E8"/>
                </a:solidFill>
                <a:latin typeface="Noto Sans CJK SC"/>
                <a:ea typeface="Noto Sans CJK SC"/>
                <a:cs typeface="Noto Sans CJK SC"/>
              </a:rPr>
              <a:t>真板已完成</a:t>
            </a:r>
            <a:endParaRPr sz="1275" b="1">
              <a:solidFill>
                <a:srgbClr val="7EE8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8058150" y="3714750"/>
            <a:ext cx="3333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R528S3 Audio / PCM</a:t>
            </a:r>
            <a:endParaRPr sz="9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LCD + 触摸 + LVGL</a:t>
            </a:r>
            <a:endParaRPr sz="9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AUTO 偏好持久化</a:t>
            </a:r>
            <a:endParaRPr sz="9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rcS 开机自启动</a:t>
            </a:r>
            <a:endParaRPr sz="900" b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Rounded Rectangle 34"/>
          <p:cNvSpPr>
            <a:spLocks noGrp="1"/>
          </p:cNvSpPr>
          <p:nvPr/>
        </p:nvSpPr>
        <p:spPr>
          <a:xfrm>
            <a:off x="7810500" y="4991100"/>
            <a:ext cx="3848100" cy="666750"/>
          </a:xfrm>
          <a:prstGeom prst="roundRect">
            <a:avLst>
              <a:gd name="adj" fmla="val 22857"/>
            </a:avLst>
          </a:prstGeom>
          <a:solidFill>
            <a:srgbClr val="FFF0F0"/>
          </a:solidFill>
          <a:ln w="0">
            <a:noFill/>
            <a:prstDash val="solid"/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8001000" y="51244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rPr>
              <a:t>当前冻结边界</a:t>
            </a:r>
            <a:endParaRPr sz="1125" b="1">
              <a:solidFill>
                <a:srgbClr val="F56C6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8001000" y="53625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没有真板准确率、延迟、内存、功耗和长时稳定性数据</a:t>
            </a:r>
            <a:endParaRPr sz="97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533400" y="5857875"/>
            <a:ext cx="1057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界面实时显示：状态、类别、置信度、能量、窗口数、告警数与最近事件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10 · 验证与边界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552450"/>
            <a:ext cx="11125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当前结论均对应可核验的代码或实验证据</a:t>
            </a:r>
            <a:endParaRPr sz="270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1152525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29" name="Table 26"/>
          <p:cNvGraphicFramePr/>
          <p:nvPr/>
        </p:nvGraphicFramePr>
        <p:xfrm>
          <a:off x="533400" y="1504950"/>
          <a:ext cx="6858000" cy="3143250"/>
        </p:xfrm>
        <a:graphic>
          <a:graphicData uri="http://schemas.openxmlformats.org/drawingml/2006/table">
            <a:tbl>
              <a:tblPr/>
              <a:tblGrid>
                <a:gridCol w="2000250"/>
                <a:gridCol w="2857500"/>
                <a:gridCol w="2000250"/>
              </a:tblGrid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验证对象</a:t>
                      </a:r>
                      <a:endParaRPr sz="105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当前结果</a:t>
                      </a:r>
                      <a:endParaRPr sz="105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结论</a:t>
                      </a:r>
                      <a:endParaRPr sz="105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102A43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Python 五折</a:t>
                      </a:r>
                      <a:endParaRPr sz="105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390条源录音 / 1,950窗口</a:t>
                      </a:r>
                      <a:endParaRPr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 83.85%，宏召回 82.13%</a:t>
                      </a:r>
                      <a:endParaRPr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Float32 对比 INT8</a:t>
                      </a:r>
                      <a:endParaRPr sz="105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83.85% 对 84.10%</a:t>
                      </a:r>
                      <a:endParaRPr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本次未观察到精度损失</a:t>
                      </a:r>
                      <a:endParaRPr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主机 C 推理</a:t>
                      </a:r>
                      <a:endParaRPr sz="105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15个便利样本与标签一致</a:t>
                      </a:r>
                      <a:endParaRPr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lang="zh-CN"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主机端测推理</a:t>
                      </a:r>
                      <a:r>
                        <a:rPr lang="zh-CN"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正确</a:t>
                      </a:r>
                      <a:endParaRPr lang="zh-CN"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OpenVela 集成</a:t>
                      </a:r>
                      <a:endParaRPr sz="105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源码、配置和冻结镜像存在</a:t>
                      </a:r>
                      <a:endParaRPr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未新增真板量化数据</a:t>
                      </a:r>
                      <a:endParaRPr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4F8FB"/>
                    </a:solidFill>
                  </a:tcPr>
                </a:tc>
              </a:tr>
              <a:tr h="52387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噪声评测</a:t>
                      </a:r>
                      <a:endParaRPr sz="1050" b="1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/ 5 dB 宏召回 52.35% / 33.70%</a:t>
                      </a:r>
                      <a:endParaRPr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72B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强噪声是当前局限</a:t>
                      </a:r>
                      <a:endParaRPr sz="1050" b="0">
                        <a:solidFill>
                          <a:srgbClr val="172B4D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>
            <a:spLocks noGrp="1"/>
          </p:cNvSpPr>
          <p:nvPr/>
        </p:nvSpPr>
        <p:spPr>
          <a:xfrm>
            <a:off x="7905750" y="15240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三个必须保留的口径</a:t>
            </a:r>
            <a:endParaRPr sz="172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905750" y="21336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650" b="1">
              <a:solidFill>
                <a:srgbClr val="F56C6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524875" y="21336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rPr>
              <a:t>真实数据口径</a:t>
            </a:r>
            <a:endParaRPr sz="1350" b="1">
              <a:solidFill>
                <a:srgbClr val="172B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524875" y="2486025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指标来自 ESC-50 官方五折，不是合成数据。</a:t>
            </a:r>
            <a:endParaRPr sz="112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905750" y="32004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650" b="1">
              <a:solidFill>
                <a:srgbClr val="F56C6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8524875" y="32004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rPr>
              <a:t>真板性能口径</a:t>
            </a:r>
            <a:endParaRPr sz="1350" b="1">
              <a:solidFill>
                <a:srgbClr val="172B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524875" y="3552825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已完成代码集成和镜像构建，未测</a:t>
            </a:r>
            <a:r>
              <a:rPr lang="zh-CN"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真机</a:t>
            </a:r>
            <a:r>
              <a: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准确率、延迟或功耗。</a:t>
            </a:r>
            <a:endParaRPr sz="112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7905750" y="42672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56C6C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650" b="1">
              <a:solidFill>
                <a:srgbClr val="F56C6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524875" y="42672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rPr>
              <a:t>实时功能口径</a:t>
            </a:r>
            <a:endParaRPr sz="1350" b="1">
              <a:solidFill>
                <a:srgbClr val="172B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524875" y="4619625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41556F"/>
                </a:solidFill>
                <a:latin typeface="Noto Sans CJK SC"/>
                <a:ea typeface="Noto Sans CJK SC"/>
                <a:cs typeface="Noto Sans CJK SC"/>
              </a:rPr>
              <a:t>HTTP/MQTT 与关键词存在于 CLI 路径，未接入实时 UI。</a:t>
            </a:r>
            <a:endParaRPr sz="1125" b="0">
              <a:solidFill>
                <a:srgbClr val="41556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33400" y="5156835"/>
            <a:ext cx="11125200" cy="857250"/>
          </a:xfrm>
          <a:prstGeom prst="roundRect">
            <a:avLst>
              <a:gd name="adj" fmla="val 17778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762000" y="5372735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77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677FF"/>
                </a:solidFill>
                <a:latin typeface="Noto Sans CJK SC"/>
                <a:ea typeface="Noto Sans CJK SC"/>
                <a:cs typeface="Noto Sans CJK SC"/>
              </a:rPr>
              <a:t>当前结论</a:t>
            </a:r>
            <a:endParaRPr sz="1125" b="1">
              <a:solidFill>
                <a:srgbClr val="1677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991995" y="5343525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项目已完成可复现的训练、主机 C 推理和 OpenVela 板级集成；真板量化测试仍需补齐。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>
            <a:spLocks noGrp="1"/>
          </p:cNvSpPr>
          <p:nvPr/>
        </p:nvSpPr>
        <p:spPr>
          <a:xfrm>
            <a:off x="533400" y="285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结论</a:t>
            </a:r>
            <a:endParaRPr sz="975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33400" y="781050"/>
            <a:ext cx="10287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28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Audio Sentinel 已完成</a:t>
            </a:r>
            <a:endParaRPr sz="28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lnSpc>
                <a:spcPct val="102000"/>
              </a:lnSpc>
              <a:buNone/>
              <a:defRPr sz="28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可复现的三端交付</a:t>
            </a:r>
            <a:endParaRPr sz="28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533400" y="20002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4" name="Straight Connector 3"/>
          <p:cNvSpPr>
            <a:spLocks noGrp="1"/>
          </p:cNvSpPr>
          <p:nvPr/>
        </p:nvSpPr>
        <p:spPr>
          <a:xfrm>
            <a:off x="533400" y="2476500"/>
            <a:ext cx="495300" cy="0"/>
          </a:xfrm>
          <a:prstGeom prst="line">
            <a:avLst/>
          </a:prstGeom>
          <a:noFill/>
          <a:ln w="57150">
            <a:solidFill>
              <a:srgbClr val="1677FF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533400" y="27432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能识别</a:t>
            </a:r>
            <a:endParaRPr sz="19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33400" y="32575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rPr>
              <a:t>5类音频事件</a:t>
            </a:r>
            <a:endParaRPr sz="1425" b="1">
              <a:solidFill>
                <a:srgbClr val="172B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33400" y="36766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92维特征 · TinyMLP 92→64→5</a:t>
            </a:r>
            <a:endParaRPr sz="1200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4248150" y="2476500"/>
            <a:ext cx="495300" cy="0"/>
          </a:xfrm>
          <a:prstGeom prst="line">
            <a:avLst/>
          </a:prstGeom>
          <a:noFill/>
          <a:ln w="57150">
            <a:solidFill>
              <a:srgbClr val="00A6A6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4248150" y="27432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能部署</a:t>
            </a:r>
            <a:endParaRPr sz="19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248150" y="32575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rPr>
              <a:t>Python + C + OpenVela</a:t>
            </a:r>
            <a:endParaRPr sz="1425" b="1">
              <a:solidFill>
                <a:srgbClr val="172B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248150" y="36766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6,277参数 · INT8存储估算 7,029 B</a:t>
            </a:r>
            <a:endParaRPr sz="1200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7962900" y="2476500"/>
            <a:ext cx="495300" cy="0"/>
          </a:xfrm>
          <a:prstGeom prst="line">
            <a:avLst/>
          </a:prstGeom>
          <a:noFill/>
          <a:ln w="57150">
            <a:solidFill>
              <a:srgbClr val="F56C6C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7962900" y="27432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能交互</a:t>
            </a:r>
            <a:endParaRPr sz="1950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962900" y="32575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2B4D"/>
                </a:solidFill>
                <a:latin typeface="Noto Sans CJK SC"/>
                <a:ea typeface="Noto Sans CJK SC"/>
                <a:cs typeface="Noto Sans CJK SC"/>
              </a:rPr>
              <a:t>麦克风 + LCD + 触摸 + LVGL</a:t>
            </a:r>
            <a:endParaRPr sz="1425" b="1">
              <a:solidFill>
                <a:srgbClr val="172B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7962900" y="36766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START / STOP / AUTO · 事件计数</a:t>
            </a:r>
            <a:endParaRPr sz="1200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33400" y="4629150"/>
            <a:ext cx="11125200" cy="990600"/>
          </a:xfrm>
          <a:prstGeom prst="roundRect">
            <a:avLst>
              <a:gd name="adj" fmla="val 17308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781050" y="48768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A6A6"/>
                </a:solidFill>
                <a:latin typeface="Noto Sans CJK SC"/>
                <a:ea typeface="Noto Sans CJK SC"/>
                <a:cs typeface="Noto Sans CJK SC"/>
              </a:rPr>
              <a:t>后续重点</a:t>
            </a:r>
            <a:endParaRPr sz="1200" b="1">
              <a:solidFill>
                <a:srgbClr val="00A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2000250" y="483870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02A43"/>
                </a:solidFill>
                <a:latin typeface="Noto Sans CJK SC"/>
                <a:ea typeface="Noto Sans CJK SC"/>
                <a:cs typeface="Noto Sans CJK SC"/>
              </a:rPr>
              <a:t>真板量化测试、连续 PCM 采集、实时 UI 与远程告警集成</a:t>
            </a:r>
            <a:endParaRPr sz="1575" b="1">
              <a:solidFill>
                <a:srgbClr val="102A4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Straight Connector 18"/>
          <p:cNvSpPr>
            <a:spLocks noGrp="1"/>
          </p:cNvSpPr>
          <p:nvPr/>
        </p:nvSpPr>
        <p:spPr>
          <a:xfrm>
            <a:off x="533400" y="6496050"/>
            <a:ext cx="111252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533400" y="656272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Audio Sentinel · 2026 openvela AI 硬件开发者大赛</a:t>
            </a:r>
            <a:endParaRPr sz="825" b="0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0668000" y="6057900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谢谢</a:t>
            </a:r>
            <a:endParaRPr sz="1200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11220450" y="6562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718096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825" b="1">
              <a:solidFill>
                <a:srgbClr val="718096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OpenVela Minimal">
      <a:dk1>
        <a:srgbClr val="000000"/>
      </a:dk1>
      <a:lt1>
        <a:srgbClr val="FFFFFF"/>
      </a:lt1>
      <a:dk2>
        <a:srgbClr val="102A43"/>
      </a:dk2>
      <a:lt2>
        <a:srgbClr val="D9E2EC"/>
      </a:lt2>
      <a:accent1>
        <a:srgbClr val="1677FF"/>
      </a:accent1>
      <a:accent2>
        <a:srgbClr val="00A6A6"/>
      </a:accent2>
      <a:accent3>
        <a:srgbClr val="F56C6C"/>
      </a:accent3>
      <a:accent4>
        <a:srgbClr val="F5A623"/>
      </a:accent4>
      <a:accent5>
        <a:srgbClr val="1A9C68"/>
      </a:accent5>
      <a:accent6>
        <a:srgbClr val="6B5DD3"/>
      </a:accent6>
      <a:hlink>
        <a:srgbClr val="1677FF"/>
      </a:hlink>
      <a:folHlink>
        <a:srgbClr val="6B5DD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nVela Minim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OpenVela Minimal">
      <a:dk1>
        <a:srgbClr val="000000"/>
      </a:dk1>
      <a:lt1>
        <a:srgbClr val="FFFFFF"/>
      </a:lt1>
      <a:dk2>
        <a:srgbClr val="102A43"/>
      </a:dk2>
      <a:lt2>
        <a:srgbClr val="D9E2EC"/>
      </a:lt2>
      <a:accent1>
        <a:srgbClr val="1677FF"/>
      </a:accent1>
      <a:accent2>
        <a:srgbClr val="00A6A6"/>
      </a:accent2>
      <a:accent3>
        <a:srgbClr val="F56C6C"/>
      </a:accent3>
      <a:accent4>
        <a:srgbClr val="F5A623"/>
      </a:accent4>
      <a:accent5>
        <a:srgbClr val="1A9C68"/>
      </a:accent5>
      <a:accent6>
        <a:srgbClr val="6B5DD3"/>
      </a:accent6>
      <a:hlink>
        <a:srgbClr val="1677FF"/>
      </a:hlink>
      <a:folHlink>
        <a:srgbClr val="6B5DD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enVela Minim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3731</Words>
  <Application>WPS Docs</Application>
  <PresentationFormat>Converted Presentation</PresentationFormat>
  <Paragraphs>667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Noto Sans CJK SC</vt:lpstr>
      <vt:lpstr>Thonburi</vt:lpstr>
      <vt:lpstr>Arial Unicode MS</vt:lpstr>
      <vt:lpstr>Arial</vt:lpstr>
      <vt:lpstr>SimSun</vt:lpstr>
      <vt:lpstr>汉仪书宋二KW</vt:lpstr>
      <vt:lpstr>Microsoft YaHei</vt:lpstr>
      <vt:lpstr>汉仪旗黑</vt:lpstr>
      <vt:lpstr>Calibri</vt:lpstr>
      <vt:lpstr>Helvetica Neue</vt:lpstr>
      <vt:lpstr>Noto Sans CJK SC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李炳霖</cp:lastModifiedBy>
  <cp:revision>5</cp:revision>
  <dcterms:created xsi:type="dcterms:W3CDTF">2026-09-19T12:31:53Z</dcterms:created>
  <dcterms:modified xsi:type="dcterms:W3CDTF">2026-09-19T12:31:53Z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EEC79462B4DF255F6280AE6A065BC104_42</vt:lpwstr>
  </property>
  <property fmtid="{D5CDD505-2E9C-101B-9397-08002B2CF9AE}" pid="3" name="KSOProductBuildVer">
    <vt:lpwstr>1033-12.1.25867.25867</vt:lpwstr>
  </property>
</Properties>
</file>